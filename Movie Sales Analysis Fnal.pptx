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F6228F-D702-4608-B947-BFB1431B43C1}" v="19" dt="2026-02-28T17:56:29.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t Chaudhari" userId="2583e13476bf1f34" providerId="LiveId" clId="{D570B3A0-242E-4CB6-AE52-312F93FF2BE0}"/>
    <pc:docChg chg="custSel modSld">
      <pc:chgData name="Mohit Chaudhari" userId="2583e13476bf1f34" providerId="LiveId" clId="{D570B3A0-242E-4CB6-AE52-312F93FF2BE0}" dt="2026-02-28T17:56:46.255" v="215" actId="1076"/>
      <pc:docMkLst>
        <pc:docMk/>
      </pc:docMkLst>
      <pc:sldChg chg="modSp mod">
        <pc:chgData name="Mohit Chaudhari" userId="2583e13476bf1f34" providerId="LiveId" clId="{D570B3A0-242E-4CB6-AE52-312F93FF2BE0}" dt="2026-02-28T17:56:46.255" v="215" actId="1076"/>
        <pc:sldMkLst>
          <pc:docMk/>
          <pc:sldMk cId="3965414550" sldId="260"/>
        </pc:sldMkLst>
        <pc:spChg chg="mod">
          <ac:chgData name="Mohit Chaudhari" userId="2583e13476bf1f34" providerId="LiveId" clId="{D570B3A0-242E-4CB6-AE52-312F93FF2BE0}" dt="2026-02-28T17:56:46.255" v="215" actId="1076"/>
          <ac:spMkLst>
            <pc:docMk/>
            <pc:sldMk cId="3965414550" sldId="260"/>
            <ac:spMk id="8" creationId="{8940D0F9-5E35-E070-3DA1-5683C4DC15E0}"/>
          </ac:spMkLst>
        </pc:spChg>
      </pc:sldChg>
      <pc:sldChg chg="addSp delSp modSp mod">
        <pc:chgData name="Mohit Chaudhari" userId="2583e13476bf1f34" providerId="LiveId" clId="{D570B3A0-242E-4CB6-AE52-312F93FF2BE0}" dt="2026-02-28T17:15:20.539" v="137" actId="14100"/>
        <pc:sldMkLst>
          <pc:docMk/>
          <pc:sldMk cId="3479691713" sldId="265"/>
        </pc:sldMkLst>
        <pc:spChg chg="add del mod">
          <ac:chgData name="Mohit Chaudhari" userId="2583e13476bf1f34" providerId="LiveId" clId="{D570B3A0-242E-4CB6-AE52-312F93FF2BE0}" dt="2026-02-28T17:10:52.588" v="119" actId="21"/>
          <ac:spMkLst>
            <pc:docMk/>
            <pc:sldMk cId="3479691713" sldId="265"/>
            <ac:spMk id="4" creationId="{77BA6C76-CA37-416E-2157-7FC8629EF5F0}"/>
          </ac:spMkLst>
        </pc:spChg>
        <pc:picChg chg="del mod">
          <ac:chgData name="Mohit Chaudhari" userId="2583e13476bf1f34" providerId="LiveId" clId="{D570B3A0-242E-4CB6-AE52-312F93FF2BE0}" dt="2026-02-28T17:11:26.129" v="124" actId="21"/>
          <ac:picMkLst>
            <pc:docMk/>
            <pc:sldMk cId="3479691713" sldId="265"/>
            <ac:picMk id="5" creationId="{F124EA3F-B743-987A-FF71-2DAF904693CF}"/>
          </ac:picMkLst>
        </pc:picChg>
        <pc:picChg chg="del mod">
          <ac:chgData name="Mohit Chaudhari" userId="2583e13476bf1f34" providerId="LiveId" clId="{D570B3A0-242E-4CB6-AE52-312F93FF2BE0}" dt="2026-02-28T17:14:59.021" v="131" actId="21"/>
          <ac:picMkLst>
            <pc:docMk/>
            <pc:sldMk cId="3479691713" sldId="265"/>
            <ac:picMk id="7" creationId="{F240C7B8-9F48-0F60-F19C-C18D297388A4}"/>
          </ac:picMkLst>
        </pc:picChg>
        <pc:picChg chg="add mod">
          <ac:chgData name="Mohit Chaudhari" userId="2583e13476bf1f34" providerId="LiveId" clId="{D570B3A0-242E-4CB6-AE52-312F93FF2BE0}" dt="2026-02-28T17:11:04.379" v="122" actId="14100"/>
          <ac:picMkLst>
            <pc:docMk/>
            <pc:sldMk cId="3479691713" sldId="265"/>
            <ac:picMk id="8" creationId="{D9153C0B-760C-CBA4-5DB6-DA5C8D107C2F}"/>
          </ac:picMkLst>
        </pc:picChg>
        <pc:picChg chg="add mod">
          <ac:chgData name="Mohit Chaudhari" userId="2583e13476bf1f34" providerId="LiveId" clId="{D570B3A0-242E-4CB6-AE52-312F93FF2BE0}" dt="2026-02-28T17:15:20.539" v="137" actId="14100"/>
          <ac:picMkLst>
            <pc:docMk/>
            <pc:sldMk cId="3479691713" sldId="265"/>
            <ac:picMk id="10" creationId="{1BD4B196-3E60-4870-DB1B-5F7085D941C0}"/>
          </ac:picMkLst>
        </pc:picChg>
      </pc:sldChg>
      <pc:sldChg chg="addSp delSp modSp mod">
        <pc:chgData name="Mohit Chaudhari" userId="2583e13476bf1f34" providerId="LiveId" clId="{D570B3A0-242E-4CB6-AE52-312F93FF2BE0}" dt="2026-02-28T17:25:23.076" v="175" actId="171"/>
        <pc:sldMkLst>
          <pc:docMk/>
          <pc:sldMk cId="3671717698" sldId="266"/>
        </pc:sldMkLst>
        <pc:picChg chg="add mod">
          <ac:chgData name="Mohit Chaudhari" userId="2583e13476bf1f34" providerId="LiveId" clId="{D570B3A0-242E-4CB6-AE52-312F93FF2BE0}" dt="2026-02-28T17:23:55.578" v="169" actId="1440"/>
          <ac:picMkLst>
            <pc:docMk/>
            <pc:sldMk cId="3671717698" sldId="266"/>
            <ac:picMk id="7" creationId="{055E80F5-69F1-69FA-9F7D-92EADBB802CA}"/>
          </ac:picMkLst>
        </pc:picChg>
        <pc:picChg chg="del mod">
          <ac:chgData name="Mohit Chaudhari" userId="2583e13476bf1f34" providerId="LiveId" clId="{D570B3A0-242E-4CB6-AE52-312F93FF2BE0}" dt="2026-02-28T17:19:53.841" v="156" actId="21"/>
          <ac:picMkLst>
            <pc:docMk/>
            <pc:sldMk cId="3671717698" sldId="266"/>
            <ac:picMk id="9" creationId="{BD60ED6F-41F4-838C-540E-061A15E26E6F}"/>
          </ac:picMkLst>
        </pc:picChg>
        <pc:picChg chg="add mod ord">
          <ac:chgData name="Mohit Chaudhari" userId="2583e13476bf1f34" providerId="LiveId" clId="{D570B3A0-242E-4CB6-AE52-312F93FF2BE0}" dt="2026-02-28T17:25:23.076" v="175" actId="171"/>
          <ac:picMkLst>
            <pc:docMk/>
            <pc:sldMk cId="3671717698" sldId="266"/>
            <ac:picMk id="10" creationId="{1AA06420-1556-5764-02C8-BF771AF6E615}"/>
          </ac:picMkLst>
        </pc:picChg>
        <pc:picChg chg="del">
          <ac:chgData name="Mohit Chaudhari" userId="2583e13476bf1f34" providerId="LiveId" clId="{D570B3A0-242E-4CB6-AE52-312F93FF2BE0}" dt="2026-02-28T17:15:41.417" v="138" actId="21"/>
          <ac:picMkLst>
            <pc:docMk/>
            <pc:sldMk cId="3671717698" sldId="266"/>
            <ac:picMk id="11" creationId="{6CCE4E0B-0A17-E5C8-C464-FE3B96D19F07}"/>
          </ac:picMkLst>
        </pc:picChg>
      </pc:sldChg>
      <pc:sldChg chg="addSp delSp modSp mod">
        <pc:chgData name="Mohit Chaudhari" userId="2583e13476bf1f34" providerId="LiveId" clId="{D570B3A0-242E-4CB6-AE52-312F93FF2BE0}" dt="2026-02-28T17:49:44.871" v="203" actId="1037"/>
        <pc:sldMkLst>
          <pc:docMk/>
          <pc:sldMk cId="1170308657" sldId="267"/>
        </pc:sldMkLst>
        <pc:spChg chg="add del mod">
          <ac:chgData name="Mohit Chaudhari" userId="2583e13476bf1f34" providerId="LiveId" clId="{D570B3A0-242E-4CB6-AE52-312F93FF2BE0}" dt="2026-02-28T17:28:26.391" v="179" actId="21"/>
          <ac:spMkLst>
            <pc:docMk/>
            <pc:sldMk cId="1170308657" sldId="267"/>
            <ac:spMk id="3" creationId="{8744C387-BF2C-9E7C-DF59-D44CB1462633}"/>
          </ac:spMkLst>
        </pc:spChg>
        <pc:picChg chg="del">
          <ac:chgData name="Mohit Chaudhari" userId="2583e13476bf1f34" providerId="LiveId" clId="{D570B3A0-242E-4CB6-AE52-312F93FF2BE0}" dt="2026-02-28T17:43:05.394" v="193" actId="21"/>
          <ac:picMkLst>
            <pc:docMk/>
            <pc:sldMk cId="1170308657" sldId="267"/>
            <ac:picMk id="4" creationId="{0CE588DA-2CD4-5707-2D6F-1BCF7C0F9538}"/>
          </ac:picMkLst>
        </pc:picChg>
        <pc:picChg chg="add del mod">
          <ac:chgData name="Mohit Chaudhari" userId="2583e13476bf1f34" providerId="LiveId" clId="{D570B3A0-242E-4CB6-AE52-312F93FF2BE0}" dt="2026-02-28T17:41:37.532" v="183" actId="21"/>
          <ac:picMkLst>
            <pc:docMk/>
            <pc:sldMk cId="1170308657" sldId="267"/>
            <ac:picMk id="5" creationId="{F918E6DB-D354-D970-1DC4-643FAB885B97}"/>
          </ac:picMkLst>
        </pc:picChg>
        <pc:picChg chg="del mod">
          <ac:chgData name="Mohit Chaudhari" userId="2583e13476bf1f34" providerId="LiveId" clId="{D570B3A0-242E-4CB6-AE52-312F93FF2BE0}" dt="2026-02-28T17:41:40.109" v="184" actId="21"/>
          <ac:picMkLst>
            <pc:docMk/>
            <pc:sldMk cId="1170308657" sldId="267"/>
            <ac:picMk id="6" creationId="{0E475B8E-E095-950F-5F97-8956655F3868}"/>
          </ac:picMkLst>
        </pc:picChg>
        <pc:picChg chg="add del mod">
          <ac:chgData name="Mohit Chaudhari" userId="2583e13476bf1f34" providerId="LiveId" clId="{D570B3A0-242E-4CB6-AE52-312F93FF2BE0}" dt="2026-02-28T17:41:34.150" v="182" actId="21"/>
          <ac:picMkLst>
            <pc:docMk/>
            <pc:sldMk cId="1170308657" sldId="267"/>
            <ac:picMk id="9" creationId="{B622C355-F147-A1A1-CF00-27EE1E435B5F}"/>
          </ac:picMkLst>
        </pc:picChg>
        <pc:picChg chg="add mod">
          <ac:chgData name="Mohit Chaudhari" userId="2583e13476bf1f34" providerId="LiveId" clId="{D570B3A0-242E-4CB6-AE52-312F93FF2BE0}" dt="2026-02-28T17:44:52.755" v="195" actId="14100"/>
          <ac:picMkLst>
            <pc:docMk/>
            <pc:sldMk cId="1170308657" sldId="267"/>
            <ac:picMk id="12" creationId="{BCE5D083-D621-0EE8-E302-62113A093343}"/>
          </ac:picMkLst>
        </pc:picChg>
        <pc:picChg chg="add mod">
          <ac:chgData name="Mohit Chaudhari" userId="2583e13476bf1f34" providerId="LiveId" clId="{D570B3A0-242E-4CB6-AE52-312F93FF2BE0}" dt="2026-02-28T17:49:44.871" v="203" actId="1037"/>
          <ac:picMkLst>
            <pc:docMk/>
            <pc:sldMk cId="1170308657" sldId="267"/>
            <ac:picMk id="14" creationId="{88959629-9AE0-0B4E-5EE7-ACA6D8E4AFDA}"/>
          </ac:picMkLst>
        </pc:picChg>
      </pc:sldChg>
      <pc:sldChg chg="addSp delSp modSp mod">
        <pc:chgData name="Mohit Chaudhari" userId="2583e13476bf1f34" providerId="LiveId" clId="{D570B3A0-242E-4CB6-AE52-312F93FF2BE0}" dt="2026-02-28T17:50:33.359" v="212" actId="14100"/>
        <pc:sldMkLst>
          <pc:docMk/>
          <pc:sldMk cId="1788985851" sldId="268"/>
        </pc:sldMkLst>
        <pc:picChg chg="del">
          <ac:chgData name="Mohit Chaudhari" userId="2583e13476bf1f34" providerId="LiveId" clId="{D570B3A0-242E-4CB6-AE52-312F93FF2BE0}" dt="2026-02-28T17:49:51.347" v="204" actId="21"/>
          <ac:picMkLst>
            <pc:docMk/>
            <pc:sldMk cId="1788985851" sldId="268"/>
            <ac:picMk id="5" creationId="{D12B5D0E-6B04-F19D-742F-4869AF49F1F7}"/>
          </ac:picMkLst>
        </pc:picChg>
        <pc:picChg chg="add mod">
          <ac:chgData name="Mohit Chaudhari" userId="2583e13476bf1f34" providerId="LiveId" clId="{D570B3A0-242E-4CB6-AE52-312F93FF2BE0}" dt="2026-02-28T17:50:33.359" v="212" actId="14100"/>
          <ac:picMkLst>
            <pc:docMk/>
            <pc:sldMk cId="1788985851" sldId="268"/>
            <ac:picMk id="6" creationId="{7CEEEBD1-7FFB-8A9A-DA16-28C62D4BA3B9}"/>
          </ac:picMkLst>
        </pc:picChg>
      </pc:sldChg>
      <pc:sldChg chg="delSp mod">
        <pc:chgData name="Mohit Chaudhari" userId="2583e13476bf1f34" providerId="LiveId" clId="{D570B3A0-242E-4CB6-AE52-312F93FF2BE0}" dt="2026-02-28T17:50:48.189" v="213" actId="21"/>
        <pc:sldMkLst>
          <pc:docMk/>
          <pc:sldMk cId="1480542075" sldId="269"/>
        </pc:sldMkLst>
        <pc:spChg chg="del">
          <ac:chgData name="Mohit Chaudhari" userId="2583e13476bf1f34" providerId="LiveId" clId="{D570B3A0-242E-4CB6-AE52-312F93FF2BE0}" dt="2026-02-28T17:50:48.189" v="213" actId="21"/>
          <ac:spMkLst>
            <pc:docMk/>
            <pc:sldMk cId="1480542075" sldId="269"/>
            <ac:spMk id="6" creationId="{10775361-5D13-EB0E-085D-3B3725110AB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D33134-80C7-4B6E-BDAD-FD3170612DDF}"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1717181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D33134-80C7-4B6E-BDAD-FD3170612DDF}"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3147674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D33134-80C7-4B6E-BDAD-FD3170612DDF}"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357771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D33134-80C7-4B6E-BDAD-FD3170612DDF}"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2274433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D33134-80C7-4B6E-BDAD-FD3170612DDF}" type="datetimeFigureOut">
              <a:rPr lang="en-IN" smtClean="0"/>
              <a:t>28-02-2026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3281478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D33134-80C7-4B6E-BDAD-FD3170612DDF}" type="datetimeFigureOut">
              <a:rPr lang="en-IN" smtClean="0"/>
              <a:t>28-02-2026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230153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D33134-80C7-4B6E-BDAD-FD3170612DDF}" type="datetimeFigureOut">
              <a:rPr lang="en-IN" smtClean="0"/>
              <a:t>28-02-2026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2132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D33134-80C7-4B6E-BDAD-FD3170612DDF}"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44332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D33134-80C7-4B6E-BDAD-FD3170612DDF}"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1178985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D33134-80C7-4B6E-BDAD-FD3170612DDF}"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3386611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D33134-80C7-4B6E-BDAD-FD3170612DDF}"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3563587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D33134-80C7-4B6E-BDAD-FD3170612DDF}"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BF6F8B-E2B5-4EAB-B921-3F308FACAAB9}"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38710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D33134-80C7-4B6E-BDAD-FD3170612DDF}"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312266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0D33134-80C7-4B6E-BDAD-FD3170612DDF}" type="datetimeFigureOut">
              <a:rPr lang="en-IN" smtClean="0"/>
              <a:t>28-02-2026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2861402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0D33134-80C7-4B6E-BDAD-FD3170612DDF}" type="datetimeFigureOut">
              <a:rPr lang="en-IN" smtClean="0"/>
              <a:t>28-02-2026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3203421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D33134-80C7-4B6E-BDAD-FD3170612DDF}"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1045698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D33134-80C7-4B6E-BDAD-FD3170612DDF}"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BF6F8B-E2B5-4EAB-B921-3F308FACAAB9}" type="slidenum">
              <a:rPr lang="en-IN" smtClean="0"/>
              <a:t>‹#›</a:t>
            </a:fld>
            <a:endParaRPr lang="en-IN"/>
          </a:p>
        </p:txBody>
      </p:sp>
    </p:spTree>
    <p:extLst>
      <p:ext uri="{BB962C8B-B14F-4D97-AF65-F5344CB8AC3E}">
        <p14:creationId xmlns:p14="http://schemas.microsoft.com/office/powerpoint/2010/main" val="2483542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0D33134-80C7-4B6E-BDAD-FD3170612DDF}" type="datetimeFigureOut">
              <a:rPr lang="en-IN" smtClean="0"/>
              <a:t>28-02-2026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4BF6F8B-E2B5-4EAB-B921-3F308FACAAB9}" type="slidenum">
              <a:rPr lang="en-IN" smtClean="0"/>
              <a:t>‹#›</a:t>
            </a:fld>
            <a:endParaRPr lang="en-IN"/>
          </a:p>
        </p:txBody>
      </p:sp>
    </p:spTree>
    <p:extLst>
      <p:ext uri="{BB962C8B-B14F-4D97-AF65-F5344CB8AC3E}">
        <p14:creationId xmlns:p14="http://schemas.microsoft.com/office/powerpoint/2010/main" val="701092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085C5F45-8335-A872-3D22-A256A86189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C3EF70-8C8D-5015-D845-AD99CA527CFE}"/>
              </a:ext>
            </a:extLst>
          </p:cNvPr>
          <p:cNvPicPr>
            <a:picLocks noChangeAspect="1"/>
          </p:cNvPicPr>
          <p:nvPr/>
        </p:nvPicPr>
        <p:blipFill>
          <a:blip r:embed="rId2">
            <a:extLst>
              <a:ext uri="{28A0092B-C50C-407E-A947-70E740481C1C}">
                <a14:useLocalDpi xmlns:a14="http://schemas.microsoft.com/office/drawing/2010/main" val="0"/>
              </a:ext>
            </a:extLst>
          </a:blip>
          <a:srcRect l="5208" t="18727" r="2799" b="18029"/>
          <a:stretch>
            <a:fillRect/>
          </a:stretch>
        </p:blipFill>
        <p:spPr>
          <a:xfrm>
            <a:off x="1966451" y="0"/>
            <a:ext cx="8259097" cy="3785420"/>
          </a:xfrm>
          <a:prstGeom prst="rect">
            <a:avLst/>
          </a:prstGeom>
        </p:spPr>
      </p:pic>
      <p:sp>
        <p:nvSpPr>
          <p:cNvPr id="6" name="TextBox 5">
            <a:extLst>
              <a:ext uri="{FF2B5EF4-FFF2-40B4-BE49-F238E27FC236}">
                <a16:creationId xmlns:a16="http://schemas.microsoft.com/office/drawing/2014/main" id="{5F1CEC06-F94F-8B33-0245-22391D237E08}"/>
              </a:ext>
            </a:extLst>
          </p:cNvPr>
          <p:cNvSpPr txBox="1"/>
          <p:nvPr/>
        </p:nvSpPr>
        <p:spPr>
          <a:xfrm>
            <a:off x="2939844" y="3602354"/>
            <a:ext cx="6312309" cy="861774"/>
          </a:xfrm>
          <a:prstGeom prst="rect">
            <a:avLst/>
          </a:prstGeom>
          <a:noFill/>
        </p:spPr>
        <p:txBody>
          <a:bodyPr wrap="square" rtlCol="0">
            <a:spAutoFit/>
          </a:bodyPr>
          <a:lstStyle/>
          <a:p>
            <a:r>
              <a:rPr lang="en-US" sz="5000" b="1" dirty="0"/>
              <a:t>Movie Sales Analysis</a:t>
            </a:r>
            <a:endParaRPr lang="en-IN" sz="5000" b="1" dirty="0"/>
          </a:p>
        </p:txBody>
      </p:sp>
      <p:sp>
        <p:nvSpPr>
          <p:cNvPr id="7" name="TextBox 6">
            <a:extLst>
              <a:ext uri="{FF2B5EF4-FFF2-40B4-BE49-F238E27FC236}">
                <a16:creationId xmlns:a16="http://schemas.microsoft.com/office/drawing/2014/main" id="{5D42040A-9A94-D4D4-0578-12BEAFAEE2A4}"/>
              </a:ext>
            </a:extLst>
          </p:cNvPr>
          <p:cNvSpPr txBox="1"/>
          <p:nvPr/>
        </p:nvSpPr>
        <p:spPr>
          <a:xfrm>
            <a:off x="7069394" y="4967269"/>
            <a:ext cx="3538223" cy="369332"/>
          </a:xfrm>
          <a:prstGeom prst="rect">
            <a:avLst/>
          </a:prstGeom>
          <a:noFill/>
        </p:spPr>
        <p:txBody>
          <a:bodyPr wrap="square" rtlCol="0">
            <a:spAutoFit/>
          </a:bodyPr>
          <a:lstStyle/>
          <a:p>
            <a:r>
              <a:rPr lang="en-US" b="1" dirty="0"/>
              <a:t>- PRESENTED BY - </a:t>
            </a:r>
          </a:p>
        </p:txBody>
      </p:sp>
      <p:sp>
        <p:nvSpPr>
          <p:cNvPr id="8" name="TextBox 7">
            <a:extLst>
              <a:ext uri="{FF2B5EF4-FFF2-40B4-BE49-F238E27FC236}">
                <a16:creationId xmlns:a16="http://schemas.microsoft.com/office/drawing/2014/main" id="{8940D0F9-5E35-E070-3DA1-5683C4DC15E0}"/>
              </a:ext>
            </a:extLst>
          </p:cNvPr>
          <p:cNvSpPr txBox="1"/>
          <p:nvPr/>
        </p:nvSpPr>
        <p:spPr>
          <a:xfrm>
            <a:off x="8101887" y="5228673"/>
            <a:ext cx="3056443" cy="1289777"/>
          </a:xfrm>
          <a:prstGeom prst="rect">
            <a:avLst/>
          </a:prstGeom>
          <a:noFill/>
        </p:spPr>
        <p:txBody>
          <a:bodyPr wrap="square" rtlCol="0">
            <a:spAutoFit/>
          </a:bodyPr>
          <a:lstStyle/>
          <a:p>
            <a:pPr>
              <a:lnSpc>
                <a:spcPct val="150000"/>
              </a:lnSpc>
            </a:pPr>
            <a:r>
              <a:rPr lang="en-IN" b="1" dirty="0"/>
              <a:t>1. Bhavik Mahajan</a:t>
            </a:r>
          </a:p>
          <a:p>
            <a:pPr>
              <a:lnSpc>
                <a:spcPct val="150000"/>
              </a:lnSpc>
            </a:pPr>
            <a:r>
              <a:rPr lang="en-IN" b="1" dirty="0"/>
              <a:t>2. Mohit Chaudhari</a:t>
            </a:r>
          </a:p>
          <a:p>
            <a:pPr>
              <a:lnSpc>
                <a:spcPct val="150000"/>
              </a:lnSpc>
            </a:pPr>
            <a:r>
              <a:rPr lang="en-IN" b="1" dirty="0"/>
              <a:t>3. Vaishnavi </a:t>
            </a:r>
            <a:r>
              <a:rPr lang="en-IN" b="1" dirty="0" err="1"/>
              <a:t>Surwase</a:t>
            </a:r>
            <a:endParaRPr lang="en-IN" b="1" dirty="0"/>
          </a:p>
        </p:txBody>
      </p:sp>
    </p:spTree>
    <p:extLst>
      <p:ext uri="{BB962C8B-B14F-4D97-AF65-F5344CB8AC3E}">
        <p14:creationId xmlns:p14="http://schemas.microsoft.com/office/powerpoint/2010/main" val="3965414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50A2F8A2-511E-8AC2-22DC-254FB06E9E00}"/>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D303B416-89E1-250F-9F57-CA280F475B1C}"/>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3" name="TextBox 2">
            <a:extLst>
              <a:ext uri="{FF2B5EF4-FFF2-40B4-BE49-F238E27FC236}">
                <a16:creationId xmlns:a16="http://schemas.microsoft.com/office/drawing/2014/main" id="{F1B2133A-1D4D-1CCF-41CC-4199C2810288}"/>
              </a:ext>
            </a:extLst>
          </p:cNvPr>
          <p:cNvSpPr txBox="1"/>
          <p:nvPr/>
        </p:nvSpPr>
        <p:spPr>
          <a:xfrm>
            <a:off x="4758813" y="467653"/>
            <a:ext cx="1337187" cy="477054"/>
          </a:xfrm>
          <a:prstGeom prst="rect">
            <a:avLst/>
          </a:prstGeom>
          <a:noFill/>
        </p:spPr>
        <p:txBody>
          <a:bodyPr wrap="square" rtlCol="0">
            <a:spAutoFit/>
          </a:bodyPr>
          <a:lstStyle/>
          <a:p>
            <a:r>
              <a:rPr lang="en-US" sz="2500" b="1" dirty="0">
                <a:solidFill>
                  <a:srgbClr val="0070C0"/>
                </a:solidFill>
              </a:rPr>
              <a:t>INDEX</a:t>
            </a:r>
            <a:endParaRPr lang="en-IN" sz="2500" b="1" dirty="0">
              <a:solidFill>
                <a:srgbClr val="0070C0"/>
              </a:solidFill>
            </a:endParaRPr>
          </a:p>
        </p:txBody>
      </p:sp>
      <p:sp>
        <p:nvSpPr>
          <p:cNvPr id="4" name="TextBox 3">
            <a:extLst>
              <a:ext uri="{FF2B5EF4-FFF2-40B4-BE49-F238E27FC236}">
                <a16:creationId xmlns:a16="http://schemas.microsoft.com/office/drawing/2014/main" id="{8A8ADC4A-2C28-A320-BA5F-791CF602B5CA}"/>
              </a:ext>
            </a:extLst>
          </p:cNvPr>
          <p:cNvSpPr txBox="1"/>
          <p:nvPr/>
        </p:nvSpPr>
        <p:spPr>
          <a:xfrm>
            <a:off x="3628102" y="1671484"/>
            <a:ext cx="6027175" cy="2949525"/>
          </a:xfrm>
          <a:prstGeom prst="rect">
            <a:avLst/>
          </a:prstGeom>
          <a:noFill/>
        </p:spPr>
        <p:txBody>
          <a:bodyPr wrap="square" rtlCol="0">
            <a:spAutoFit/>
          </a:bodyPr>
          <a:lstStyle/>
          <a:p>
            <a:pPr marL="342900" indent="-342900">
              <a:lnSpc>
                <a:spcPct val="150000"/>
              </a:lnSpc>
              <a:buAutoNum type="arabicPeriod"/>
            </a:pPr>
            <a:r>
              <a:rPr lang="en-US" b="1" dirty="0">
                <a:latin typeface="Arial" panose="020B0604020202020204" pitchFamily="34" charset="0"/>
                <a:cs typeface="Arial" panose="020B0604020202020204" pitchFamily="34" charset="0"/>
              </a:rPr>
              <a:t>Business Objective</a:t>
            </a:r>
          </a:p>
          <a:p>
            <a:pPr marL="342900" indent="-342900">
              <a:lnSpc>
                <a:spcPct val="150000"/>
              </a:lnSpc>
              <a:buAutoNum type="arabicPeriod"/>
            </a:pPr>
            <a:r>
              <a:rPr lang="en-US" b="1" dirty="0">
                <a:latin typeface="Arial" panose="020B0604020202020204" pitchFamily="34" charset="0"/>
                <a:cs typeface="Arial" panose="020B0604020202020204" pitchFamily="34" charset="0"/>
              </a:rPr>
              <a:t>Approach To Prove Business Objective</a:t>
            </a:r>
          </a:p>
          <a:p>
            <a:pPr marL="342900" indent="-342900">
              <a:lnSpc>
                <a:spcPct val="150000"/>
              </a:lnSpc>
              <a:buAutoNum type="arabicPeriod"/>
            </a:pPr>
            <a:r>
              <a:rPr lang="en-US" b="1" dirty="0">
                <a:latin typeface="Arial" panose="020B0604020202020204" pitchFamily="34" charset="0"/>
                <a:cs typeface="Arial" panose="020B0604020202020204" pitchFamily="34" charset="0"/>
              </a:rPr>
              <a:t>Data Preparation </a:t>
            </a:r>
          </a:p>
          <a:p>
            <a:pPr marL="342900" indent="-342900">
              <a:lnSpc>
                <a:spcPct val="150000"/>
              </a:lnSpc>
              <a:buAutoNum type="arabicPeriod"/>
            </a:pPr>
            <a:r>
              <a:rPr lang="en-US" b="1" dirty="0">
                <a:latin typeface="Arial" panose="020B0604020202020204" pitchFamily="34" charset="0"/>
                <a:cs typeface="Arial" panose="020B0604020202020204" pitchFamily="34" charset="0"/>
              </a:rPr>
              <a:t>Key Visuals </a:t>
            </a:r>
          </a:p>
          <a:p>
            <a:pPr marL="342900" indent="-342900">
              <a:lnSpc>
                <a:spcPct val="150000"/>
              </a:lnSpc>
              <a:buAutoNum type="arabicPeriod"/>
            </a:pPr>
            <a:r>
              <a:rPr lang="en-US" b="1" dirty="0">
                <a:latin typeface="Arial" panose="020B0604020202020204" pitchFamily="34" charset="0"/>
                <a:cs typeface="Arial" panose="020B0604020202020204" pitchFamily="34" charset="0"/>
              </a:rPr>
              <a:t>Dashboard</a:t>
            </a:r>
          </a:p>
          <a:p>
            <a:pPr marL="342900" indent="-342900">
              <a:lnSpc>
                <a:spcPct val="150000"/>
              </a:lnSpc>
              <a:buAutoNum type="arabicPeriod"/>
            </a:pPr>
            <a:r>
              <a:rPr lang="en-US" b="1" dirty="0">
                <a:latin typeface="Arial" panose="020B0604020202020204" pitchFamily="34" charset="0"/>
                <a:cs typeface="Arial" panose="020B0604020202020204" pitchFamily="34" charset="0"/>
              </a:rPr>
              <a:t>Link To The Dashboard</a:t>
            </a:r>
          </a:p>
          <a:p>
            <a:pPr marL="342900" indent="-342900">
              <a:lnSpc>
                <a:spcPct val="150000"/>
              </a:lnSpc>
              <a:buAutoNum type="arabicPeriod"/>
            </a:pPr>
            <a:r>
              <a:rPr lang="en-US" b="1" dirty="0">
                <a:latin typeface="Arial" panose="020B0604020202020204" pitchFamily="34" charset="0"/>
                <a:cs typeface="Arial" panose="020B0604020202020204" pitchFamily="34" charset="0"/>
              </a:rPr>
              <a:t>Conclusion</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6802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A0BD7A2A-D68A-684B-13FB-03DB0679AF1C}"/>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1BDDA827-63BE-D27E-F2B9-BEA1E0AF953D}"/>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4" name="TextBox 3">
            <a:extLst>
              <a:ext uri="{FF2B5EF4-FFF2-40B4-BE49-F238E27FC236}">
                <a16:creationId xmlns:a16="http://schemas.microsoft.com/office/drawing/2014/main" id="{DEA50104-7841-B47F-3B51-4AA715714D76}"/>
              </a:ext>
            </a:extLst>
          </p:cNvPr>
          <p:cNvSpPr txBox="1"/>
          <p:nvPr/>
        </p:nvSpPr>
        <p:spPr>
          <a:xfrm>
            <a:off x="1401097" y="574827"/>
            <a:ext cx="9389806" cy="5442516"/>
          </a:xfrm>
          <a:prstGeom prst="rect">
            <a:avLst/>
          </a:prstGeom>
          <a:noFill/>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 </a:t>
            </a:r>
            <a:r>
              <a:rPr lang="en-US" b="1" dirty="0">
                <a:solidFill>
                  <a:srgbClr val="0070C0"/>
                </a:solidFill>
                <a:latin typeface="Arial" panose="020B0604020202020204" pitchFamily="34" charset="0"/>
                <a:cs typeface="Arial" panose="020B0604020202020204" pitchFamily="34" charset="0"/>
              </a:rPr>
              <a:t>Business Objective:</a:t>
            </a:r>
            <a:r>
              <a:rPr lang="en-US" b="1" dirty="0">
                <a:solidFill>
                  <a:srgbClr val="FF0000"/>
                </a:solidFill>
                <a:latin typeface="Arial" panose="020B0604020202020204" pitchFamily="34" charset="0"/>
                <a:cs typeface="Arial" panose="020B0604020202020204" pitchFamily="34" charset="0"/>
              </a:rPr>
              <a:t> </a:t>
            </a:r>
            <a:endParaRPr lang="en-US" b="1"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The main objective of this project is to study how different factors affect the success of movies released between </a:t>
            </a:r>
            <a:r>
              <a:rPr lang="en-US" b="1" dirty="0">
                <a:solidFill>
                  <a:srgbClr val="FF0000"/>
                </a:solidFill>
                <a:latin typeface="Arial" panose="020B0604020202020204" pitchFamily="34" charset="0"/>
                <a:cs typeface="Arial" panose="020B0604020202020204" pitchFamily="34" charset="0"/>
              </a:rPr>
              <a:t>2006 and 2016</a:t>
            </a:r>
            <a:r>
              <a:rPr lang="en-US" dirty="0">
                <a:latin typeface="Arial" panose="020B0604020202020204" pitchFamily="34" charset="0"/>
                <a:cs typeface="Arial" panose="020B0604020202020204" pitchFamily="34" charset="0"/>
              </a:rPr>
              <a:t>. Using data from IMDb, the project focuses on understanding the connection between a movie’s </a:t>
            </a:r>
            <a:r>
              <a:rPr lang="en-US" b="1" dirty="0">
                <a:solidFill>
                  <a:srgbClr val="FF0000"/>
                </a:solidFill>
                <a:latin typeface="Arial" panose="020B0604020202020204" pitchFamily="34" charset="0"/>
                <a:cs typeface="Arial" panose="020B0604020202020204" pitchFamily="34" charset="0"/>
              </a:rPr>
              <a:t>revenue, rating, runtime, and genre</a:t>
            </a:r>
            <a:r>
              <a:rPr lang="en-US" dirty="0">
                <a:latin typeface="Arial" panose="020B0604020202020204" pitchFamily="34" charset="0"/>
                <a:cs typeface="Arial" panose="020B0604020202020204" pitchFamily="34" charset="0"/>
              </a:rPr>
              <a:t>.</a:t>
            </a:r>
          </a:p>
          <a:p>
            <a:pPr>
              <a:lnSpc>
                <a:spcPct val="150000"/>
              </a:lnSpc>
            </a:pP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The goal is to find out which types of movies perform best at the box office, how ratings influence revenue, and how movie performance has changed over the years. By analyzing these patterns, this project helps to understand what makes a movie successful and what kind of content audiences enjoy the most.</a:t>
            </a:r>
          </a:p>
          <a:p>
            <a:pPr>
              <a:lnSpc>
                <a:spcPct val="150000"/>
              </a:lnSpc>
            </a:pP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In simple terms, this project aims to give clear insights that can help movie producers, investors, and marketers make smarter decisions about </a:t>
            </a:r>
            <a:r>
              <a:rPr lang="en-US" b="1" dirty="0">
                <a:solidFill>
                  <a:srgbClr val="FF0000"/>
                </a:solidFill>
                <a:latin typeface="Arial" panose="020B0604020202020204" pitchFamily="34" charset="0"/>
                <a:cs typeface="Arial" panose="020B0604020202020204" pitchFamily="34" charset="0"/>
              </a:rPr>
              <a:t>movie production, budgeting, and marketing strategies</a:t>
            </a:r>
            <a:r>
              <a:rPr lang="en-US" dirty="0">
                <a:latin typeface="Arial" panose="020B0604020202020204" pitchFamily="34" charset="0"/>
                <a:cs typeface="Arial" panose="020B0604020202020204" pitchFamily="34" charset="0"/>
              </a:rPr>
              <a:t> in the future.</a:t>
            </a:r>
          </a:p>
        </p:txBody>
      </p:sp>
    </p:spTree>
    <p:extLst>
      <p:ext uri="{BB962C8B-B14F-4D97-AF65-F5344CB8AC3E}">
        <p14:creationId xmlns:p14="http://schemas.microsoft.com/office/powerpoint/2010/main" val="2571599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540CDFC5-B8A3-B115-A816-2659E98B5EA3}"/>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2A4E22B5-AF99-78BC-FB95-E08B23A8B2BB}"/>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3" name="TextBox 2">
            <a:extLst>
              <a:ext uri="{FF2B5EF4-FFF2-40B4-BE49-F238E27FC236}">
                <a16:creationId xmlns:a16="http://schemas.microsoft.com/office/drawing/2014/main" id="{D7AEEBA9-F111-F662-F143-87035E33465F}"/>
              </a:ext>
            </a:extLst>
          </p:cNvPr>
          <p:cNvSpPr txBox="1"/>
          <p:nvPr/>
        </p:nvSpPr>
        <p:spPr>
          <a:xfrm>
            <a:off x="1401097" y="574827"/>
            <a:ext cx="10082980" cy="5027017"/>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r>
              <a:rPr lang="en-US" dirty="0"/>
              <a:t>🎬 </a:t>
            </a:r>
            <a:r>
              <a:rPr lang="en-US" dirty="0">
                <a:solidFill>
                  <a:srgbClr val="0070C0"/>
                </a:solidFill>
              </a:rPr>
              <a:t>Approach to Prove the Business Objective</a:t>
            </a:r>
            <a:r>
              <a:rPr lang="en-US" dirty="0">
                <a:solidFill>
                  <a:srgbClr val="FF0000"/>
                </a:solidFill>
              </a:rPr>
              <a:t>:</a:t>
            </a:r>
          </a:p>
          <a:p>
            <a:endParaRPr lang="en-US" dirty="0">
              <a:solidFill>
                <a:srgbClr val="FF0000"/>
              </a:solidFill>
            </a:endParaRPr>
          </a:p>
          <a:p>
            <a:pPr marL="285750" indent="-285750">
              <a:buFont typeface="Arial" panose="020B0604020202020204" pitchFamily="34" charset="0"/>
              <a:buChar char="•"/>
            </a:pPr>
            <a:r>
              <a:rPr lang="en-US" dirty="0"/>
              <a:t>	</a:t>
            </a:r>
            <a:r>
              <a:rPr lang="en-US" dirty="0">
                <a:solidFill>
                  <a:srgbClr val="FF0000"/>
                </a:solidFill>
              </a:rPr>
              <a:t>Identify revenue patterns </a:t>
            </a:r>
            <a:r>
              <a:rPr lang="en-US" dirty="0"/>
              <a:t>across different movie genres and years.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dirty="0">
                <a:solidFill>
                  <a:srgbClr val="FF0000"/>
                </a:solidFill>
              </a:rPr>
              <a:t>Analyze relationships </a:t>
            </a:r>
            <a:r>
              <a:rPr lang="en-US" dirty="0"/>
              <a:t>between movie revenue, IMDb ratings, meta score, and runtime.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dirty="0">
                <a:solidFill>
                  <a:srgbClr val="FF0000"/>
                </a:solidFill>
              </a:rPr>
              <a:t>Compare performance </a:t>
            </a:r>
            <a:r>
              <a:rPr lang="en-US" dirty="0"/>
              <a:t>of genres to find which types of movies perform best.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dirty="0">
                <a:solidFill>
                  <a:srgbClr val="FF0000"/>
                </a:solidFill>
              </a:rPr>
              <a:t>Measure impact </a:t>
            </a:r>
            <a:r>
              <a:rPr lang="en-US" dirty="0"/>
              <a:t>of audience ratings and runtime on overall revenue trends.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dirty="0">
                <a:solidFill>
                  <a:srgbClr val="FF0000"/>
                </a:solidFill>
              </a:rPr>
              <a:t>Provide insights and recommendations </a:t>
            </a:r>
            <a:r>
              <a:rPr lang="en-US" dirty="0"/>
              <a:t>to help producers and investors plan 	profitable movie projects.</a:t>
            </a:r>
          </a:p>
        </p:txBody>
      </p:sp>
    </p:spTree>
    <p:extLst>
      <p:ext uri="{BB962C8B-B14F-4D97-AF65-F5344CB8AC3E}">
        <p14:creationId xmlns:p14="http://schemas.microsoft.com/office/powerpoint/2010/main" val="2061761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2CD56CE8-705E-FBCE-EF06-092C9E589FA7}"/>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42743557-5FE3-6DC1-44B1-241A9AF33935}"/>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5" name="TextBox 4">
            <a:extLst>
              <a:ext uri="{FF2B5EF4-FFF2-40B4-BE49-F238E27FC236}">
                <a16:creationId xmlns:a16="http://schemas.microsoft.com/office/drawing/2014/main" id="{22B62417-446E-6354-5403-65D5BAD03F3A}"/>
              </a:ext>
            </a:extLst>
          </p:cNvPr>
          <p:cNvSpPr txBox="1"/>
          <p:nvPr/>
        </p:nvSpPr>
        <p:spPr>
          <a:xfrm>
            <a:off x="1401097" y="574827"/>
            <a:ext cx="10082980" cy="5546390"/>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pPr>
              <a:lnSpc>
                <a:spcPct val="200000"/>
              </a:lnSpc>
            </a:pPr>
            <a:r>
              <a:rPr lang="en-US" dirty="0"/>
              <a:t>🧹 </a:t>
            </a:r>
            <a:r>
              <a:rPr lang="en-US" dirty="0">
                <a:solidFill>
                  <a:srgbClr val="0070C0"/>
                </a:solidFill>
              </a:rPr>
              <a:t>Data Preparation Steps:</a:t>
            </a:r>
          </a:p>
          <a:p>
            <a:pPr marL="285750" indent="-285750">
              <a:lnSpc>
                <a:spcPct val="200000"/>
              </a:lnSpc>
              <a:buFont typeface="Arial" panose="020B0604020202020204" pitchFamily="34" charset="0"/>
              <a:buChar char="•"/>
            </a:pPr>
            <a:r>
              <a:rPr lang="en-US" dirty="0"/>
              <a:t>	</a:t>
            </a:r>
            <a:r>
              <a:rPr lang="en-US" dirty="0">
                <a:solidFill>
                  <a:srgbClr val="FF0000"/>
                </a:solidFill>
              </a:rPr>
              <a:t>Data Collection: </a:t>
            </a:r>
            <a:r>
              <a:rPr lang="en-US" dirty="0"/>
              <a:t>Collected IMDb dataset for movies.</a:t>
            </a:r>
          </a:p>
          <a:p>
            <a:pPr marL="285750" indent="-285750">
              <a:lnSpc>
                <a:spcPct val="200000"/>
              </a:lnSpc>
              <a:buFont typeface="Arial" panose="020B0604020202020204" pitchFamily="34" charset="0"/>
              <a:buChar char="•"/>
            </a:pPr>
            <a:r>
              <a:rPr lang="en-US" dirty="0"/>
              <a:t>	</a:t>
            </a:r>
            <a:r>
              <a:rPr lang="en-US" dirty="0">
                <a:solidFill>
                  <a:srgbClr val="FF0000"/>
                </a:solidFill>
              </a:rPr>
              <a:t>Data Loading: </a:t>
            </a:r>
            <a:r>
              <a:rPr lang="en-US" dirty="0"/>
              <a:t>Imported the dataset into Power BI for cleaning and analysis.</a:t>
            </a:r>
          </a:p>
          <a:p>
            <a:pPr marL="285750" indent="-285750">
              <a:lnSpc>
                <a:spcPct val="200000"/>
              </a:lnSpc>
              <a:buFont typeface="Arial" panose="020B0604020202020204" pitchFamily="34" charset="0"/>
              <a:buChar char="•"/>
            </a:pPr>
            <a:r>
              <a:rPr lang="en-US" dirty="0"/>
              <a:t>	</a:t>
            </a:r>
            <a:r>
              <a:rPr lang="en-US" dirty="0">
                <a:solidFill>
                  <a:srgbClr val="FF0000"/>
                </a:solidFill>
              </a:rPr>
              <a:t>Data Cleaning: </a:t>
            </a:r>
            <a:r>
              <a:rPr lang="en-US" dirty="0"/>
              <a:t>Removed missing values, duplicates, and irrelevant columns.</a:t>
            </a:r>
          </a:p>
          <a:p>
            <a:pPr marL="285750" indent="-285750">
              <a:lnSpc>
                <a:spcPct val="200000"/>
              </a:lnSpc>
              <a:buFont typeface="Arial" panose="020B0604020202020204" pitchFamily="34" charset="0"/>
              <a:buChar char="•"/>
            </a:pPr>
            <a:r>
              <a:rPr lang="en-US" dirty="0"/>
              <a:t>	</a:t>
            </a:r>
            <a:r>
              <a:rPr lang="en-US" dirty="0">
                <a:solidFill>
                  <a:srgbClr val="FF0000"/>
                </a:solidFill>
              </a:rPr>
              <a:t>Data Formatting: </a:t>
            </a:r>
            <a:r>
              <a:rPr lang="en-US" dirty="0"/>
              <a:t>Standardized data types (numbers, dates, and text) for accurate 	analysis.</a:t>
            </a:r>
          </a:p>
          <a:p>
            <a:pPr marL="285750" indent="-285750">
              <a:lnSpc>
                <a:spcPct val="200000"/>
              </a:lnSpc>
              <a:buFont typeface="Arial" panose="020B0604020202020204" pitchFamily="34" charset="0"/>
              <a:buChar char="•"/>
            </a:pPr>
            <a:r>
              <a:rPr lang="en-US" dirty="0"/>
              <a:t>	</a:t>
            </a:r>
            <a:r>
              <a:rPr lang="en-US" dirty="0">
                <a:solidFill>
                  <a:srgbClr val="FF0000"/>
                </a:solidFill>
              </a:rPr>
              <a:t>Data Transformation: </a:t>
            </a:r>
            <a:r>
              <a:rPr lang="en-US" dirty="0"/>
              <a:t>Created new calculated columns and measures like Total 	Revenue,  Average Rating, and Average Runtime.</a:t>
            </a:r>
          </a:p>
          <a:p>
            <a:pPr marL="285750" indent="-285750">
              <a:lnSpc>
                <a:spcPct val="200000"/>
              </a:lnSpc>
              <a:buFont typeface="Arial" panose="020B0604020202020204" pitchFamily="34" charset="0"/>
              <a:buChar char="•"/>
            </a:pPr>
            <a:r>
              <a:rPr lang="en-US" dirty="0"/>
              <a:t>	</a:t>
            </a:r>
            <a:r>
              <a:rPr lang="en-US" dirty="0">
                <a:solidFill>
                  <a:srgbClr val="FF0000"/>
                </a:solidFill>
              </a:rPr>
              <a:t>Data Validation: </a:t>
            </a:r>
            <a:r>
              <a:rPr lang="en-US" dirty="0"/>
              <a:t>Verified data accuracy by checking values and summaries before 	visualization.</a:t>
            </a:r>
          </a:p>
        </p:txBody>
      </p:sp>
    </p:spTree>
    <p:extLst>
      <p:ext uri="{BB962C8B-B14F-4D97-AF65-F5344CB8AC3E}">
        <p14:creationId xmlns:p14="http://schemas.microsoft.com/office/powerpoint/2010/main" val="3843875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18AAA385-5EA1-4D3E-4D4F-1F62F63BAAD8}"/>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47B2AACA-0169-D0EF-3ACF-766C1CFF69FA}"/>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3" name="TextBox 2">
            <a:extLst>
              <a:ext uri="{FF2B5EF4-FFF2-40B4-BE49-F238E27FC236}">
                <a16:creationId xmlns:a16="http://schemas.microsoft.com/office/drawing/2014/main" id="{2E9F3CEF-E126-AE28-F44A-AD261D905719}"/>
              </a:ext>
            </a:extLst>
          </p:cNvPr>
          <p:cNvSpPr txBox="1"/>
          <p:nvPr/>
        </p:nvSpPr>
        <p:spPr>
          <a:xfrm>
            <a:off x="908566" y="499329"/>
            <a:ext cx="2670431" cy="456472"/>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r>
              <a:rPr lang="en-IN" dirty="0"/>
              <a:t>🎬 </a:t>
            </a:r>
            <a:r>
              <a:rPr lang="en-IN" dirty="0">
                <a:solidFill>
                  <a:srgbClr val="0070C0"/>
                </a:solidFill>
              </a:rPr>
              <a:t>KEY VISUALS:</a:t>
            </a:r>
            <a:r>
              <a:rPr lang="en-IN" dirty="0"/>
              <a:t> </a:t>
            </a:r>
          </a:p>
        </p:txBody>
      </p:sp>
      <p:sp>
        <p:nvSpPr>
          <p:cNvPr id="12" name="TextBox 11">
            <a:extLst>
              <a:ext uri="{FF2B5EF4-FFF2-40B4-BE49-F238E27FC236}">
                <a16:creationId xmlns:a16="http://schemas.microsoft.com/office/drawing/2014/main" id="{3131CDB2-F12B-BE18-C938-12D8A41063B1}"/>
              </a:ext>
            </a:extLst>
          </p:cNvPr>
          <p:cNvSpPr txBox="1"/>
          <p:nvPr/>
        </p:nvSpPr>
        <p:spPr>
          <a:xfrm>
            <a:off x="3578997" y="1110531"/>
            <a:ext cx="8416701" cy="2329036"/>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1500" dirty="0">
                <a:latin typeface="Arial" panose="020B0604020202020204" pitchFamily="34" charset="0"/>
                <a:cs typeface="Arial" panose="020B0604020202020204" pitchFamily="34" charset="0"/>
              </a:rPr>
              <a:t>The chart shows that </a:t>
            </a:r>
            <a:r>
              <a:rPr lang="en-US" sz="1500" b="1" dirty="0">
                <a:solidFill>
                  <a:srgbClr val="FF0000"/>
                </a:solidFill>
                <a:latin typeface="Arial" panose="020B0604020202020204" pitchFamily="34" charset="0"/>
                <a:cs typeface="Arial" panose="020B0604020202020204" pitchFamily="34" charset="0"/>
              </a:rPr>
              <a:t>Action movies</a:t>
            </a:r>
            <a:r>
              <a:rPr lang="en-US" sz="1500" dirty="0">
                <a:solidFill>
                  <a:srgbClr val="FF0000"/>
                </a:solidFill>
                <a:latin typeface="Arial" panose="020B0604020202020204" pitchFamily="34" charset="0"/>
                <a:cs typeface="Arial" panose="020B0604020202020204" pitchFamily="34" charset="0"/>
              </a:rPr>
              <a:t> </a:t>
            </a:r>
            <a:r>
              <a:rPr lang="en-US" sz="1500" dirty="0">
                <a:latin typeface="Arial" panose="020B0604020202020204" pitchFamily="34" charset="0"/>
                <a:cs typeface="Arial" panose="020B0604020202020204" pitchFamily="34" charset="0"/>
              </a:rPr>
              <a:t>generated the highest total revenue </a:t>
            </a:r>
            <a:r>
              <a:rPr lang="en-US" sz="1500" dirty="0">
                <a:solidFill>
                  <a:srgbClr val="FF0000"/>
                </a:solidFill>
                <a:latin typeface="Arial" panose="020B0604020202020204" pitchFamily="34" charset="0"/>
                <a:cs typeface="Arial" panose="020B0604020202020204" pitchFamily="34" charset="0"/>
              </a:rPr>
              <a:t>(</a:t>
            </a:r>
            <a:r>
              <a:rPr lang="en-US" sz="1500" b="1" dirty="0">
                <a:solidFill>
                  <a:srgbClr val="FF0000"/>
                </a:solidFill>
                <a:latin typeface="Arial" panose="020B0604020202020204" pitchFamily="34" charset="0"/>
                <a:cs typeface="Arial" panose="020B0604020202020204" pitchFamily="34" charset="0"/>
              </a:rPr>
              <a:t>34K million</a:t>
            </a:r>
            <a:r>
              <a:rPr lang="en-US" sz="1500" dirty="0">
                <a:solidFill>
                  <a:srgbClr val="FF0000"/>
                </a:solidFill>
                <a:latin typeface="Arial" panose="020B0604020202020204" pitchFamily="34" charset="0"/>
                <a:cs typeface="Arial" panose="020B0604020202020204" pitchFamily="34" charset="0"/>
              </a:rPr>
              <a:t>)</a:t>
            </a:r>
            <a:r>
              <a:rPr lang="en-US" sz="1500" dirty="0">
                <a:latin typeface="Arial" panose="020B0604020202020204" pitchFamily="34" charset="0"/>
                <a:cs typeface="Arial" panose="020B0604020202020204" pitchFamily="34" charset="0"/>
              </a:rPr>
              <a:t>, followed by </a:t>
            </a:r>
            <a:r>
              <a:rPr lang="en-US" sz="1500" b="1" dirty="0">
                <a:solidFill>
                  <a:srgbClr val="FF0000"/>
                </a:solidFill>
                <a:latin typeface="Arial" panose="020B0604020202020204" pitchFamily="34" charset="0"/>
                <a:cs typeface="Arial" panose="020B0604020202020204" pitchFamily="34" charset="0"/>
              </a:rPr>
              <a:t>Animation</a:t>
            </a:r>
            <a:r>
              <a:rPr lang="en-US" sz="1500" dirty="0">
                <a:latin typeface="Arial" panose="020B0604020202020204" pitchFamily="34" charset="0"/>
                <a:cs typeface="Arial" panose="020B0604020202020204" pitchFamily="34" charset="0"/>
              </a:rPr>
              <a:t> and </a:t>
            </a:r>
            <a:r>
              <a:rPr lang="en-US" sz="1500" b="1" dirty="0">
                <a:solidFill>
                  <a:srgbClr val="FF0000"/>
                </a:solidFill>
                <a:latin typeface="Arial" panose="020B0604020202020204" pitchFamily="34" charset="0"/>
                <a:cs typeface="Arial" panose="020B0604020202020204" pitchFamily="34" charset="0"/>
              </a:rPr>
              <a:t>Adventure</a:t>
            </a:r>
            <a:r>
              <a:rPr lang="en-US" sz="1500" dirty="0">
                <a:latin typeface="Arial" panose="020B0604020202020204" pitchFamily="34" charset="0"/>
                <a:cs typeface="Arial" panose="020B0604020202020204" pitchFamily="34" charset="0"/>
              </a:rPr>
              <a:t>.</a:t>
            </a:r>
          </a:p>
          <a:p>
            <a:pPr marL="285750" indent="-285750">
              <a:lnSpc>
                <a:spcPct val="200000"/>
              </a:lnSpc>
              <a:buFont typeface="Arial" panose="020B0604020202020204" pitchFamily="34" charset="0"/>
              <a:buChar char="•"/>
            </a:pPr>
            <a:r>
              <a:rPr lang="en-US" sz="1500" dirty="0">
                <a:latin typeface="Arial" panose="020B0604020202020204" pitchFamily="34" charset="0"/>
                <a:cs typeface="Arial" panose="020B0604020202020204" pitchFamily="34" charset="0"/>
              </a:rPr>
              <a:t>This indicates that </a:t>
            </a:r>
            <a:r>
              <a:rPr lang="en-US" sz="1500" b="1" dirty="0">
                <a:solidFill>
                  <a:srgbClr val="FF0000"/>
                </a:solidFill>
                <a:latin typeface="Arial" panose="020B0604020202020204" pitchFamily="34" charset="0"/>
                <a:cs typeface="Arial" panose="020B0604020202020204" pitchFamily="34" charset="0"/>
              </a:rPr>
              <a:t>action-based genres dominate box office collections</a:t>
            </a:r>
            <a:r>
              <a:rPr lang="en-US" sz="1500" dirty="0">
                <a:latin typeface="Arial" panose="020B0604020202020204" pitchFamily="34" charset="0"/>
                <a:cs typeface="Arial" panose="020B0604020202020204" pitchFamily="34" charset="0"/>
              </a:rPr>
              <a:t>.</a:t>
            </a:r>
          </a:p>
          <a:p>
            <a:pPr marL="285750" indent="-285750">
              <a:lnSpc>
                <a:spcPct val="200000"/>
              </a:lnSpc>
              <a:buFont typeface="Arial" panose="020B0604020202020204" pitchFamily="34" charset="0"/>
              <a:buChar char="•"/>
            </a:pPr>
            <a:r>
              <a:rPr lang="en-US" sz="1500" dirty="0">
                <a:latin typeface="Arial" panose="020B0604020202020204" pitchFamily="34" charset="0"/>
                <a:cs typeface="Arial" panose="020B0604020202020204" pitchFamily="34" charset="0"/>
              </a:rPr>
              <a:t>Genres like </a:t>
            </a:r>
            <a:r>
              <a:rPr lang="en-US" sz="1500" b="1" dirty="0">
                <a:solidFill>
                  <a:srgbClr val="FF0000"/>
                </a:solidFill>
                <a:latin typeface="Arial" panose="020B0604020202020204" pitchFamily="34" charset="0"/>
                <a:cs typeface="Arial" panose="020B0604020202020204" pitchFamily="34" charset="0"/>
              </a:rPr>
              <a:t>Biography, Crime, and Horror</a:t>
            </a:r>
            <a:r>
              <a:rPr lang="en-US" sz="1500" dirty="0">
                <a:solidFill>
                  <a:srgbClr val="FF0000"/>
                </a:solidFill>
                <a:latin typeface="Arial" panose="020B0604020202020204" pitchFamily="34" charset="0"/>
                <a:cs typeface="Arial" panose="020B0604020202020204" pitchFamily="34" charset="0"/>
              </a:rPr>
              <a:t> </a:t>
            </a:r>
            <a:r>
              <a:rPr lang="en-US" sz="1500" dirty="0">
                <a:latin typeface="Arial" panose="020B0604020202020204" pitchFamily="34" charset="0"/>
                <a:cs typeface="Arial" panose="020B0604020202020204" pitchFamily="34" charset="0"/>
              </a:rPr>
              <a:t>have lower revenue, suggesting smaller audiences or niche appeal.</a:t>
            </a:r>
          </a:p>
        </p:txBody>
      </p:sp>
      <p:sp>
        <p:nvSpPr>
          <p:cNvPr id="21" name="Rectangle 3">
            <a:extLst>
              <a:ext uri="{FF2B5EF4-FFF2-40B4-BE49-F238E27FC236}">
                <a16:creationId xmlns:a16="http://schemas.microsoft.com/office/drawing/2014/main" id="{39030102-C64E-43F4-E563-C86AFC9916B9}"/>
              </a:ext>
            </a:extLst>
          </p:cNvPr>
          <p:cNvSpPr>
            <a:spLocks noChangeArrowheads="1"/>
          </p:cNvSpPr>
          <p:nvPr/>
        </p:nvSpPr>
        <p:spPr bwMode="auto">
          <a:xfrm>
            <a:off x="3532237" y="4150947"/>
            <a:ext cx="8718756" cy="1405706"/>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The visual highlights </a:t>
            </a:r>
            <a:r>
              <a:rPr lang="en-US" altLang="en-US" sz="1500" b="1" dirty="0">
                <a:solidFill>
                  <a:srgbClr val="FF0000"/>
                </a:solidFill>
                <a:latin typeface="Arial" panose="020B0604020202020204" pitchFamily="34" charset="0"/>
                <a:cs typeface="Arial" panose="020B0604020202020204" pitchFamily="34" charset="0"/>
              </a:rPr>
              <a:t>Animation</a:t>
            </a:r>
            <a:r>
              <a:rPr lang="en-US" altLang="en-US" sz="1500" dirty="0">
                <a:latin typeface="Arial" panose="020B0604020202020204" pitchFamily="34" charset="0"/>
                <a:cs typeface="Arial" panose="020B0604020202020204" pitchFamily="34" charset="0"/>
              </a:rPr>
              <a:t> and </a:t>
            </a:r>
            <a:r>
              <a:rPr lang="en-US" altLang="en-US" sz="1500" b="1" dirty="0">
                <a:solidFill>
                  <a:srgbClr val="FF0000"/>
                </a:solidFill>
                <a:latin typeface="Arial" panose="020B0604020202020204" pitchFamily="34" charset="0"/>
                <a:cs typeface="Arial" panose="020B0604020202020204" pitchFamily="34" charset="0"/>
              </a:rPr>
              <a:t>Biography</a:t>
            </a:r>
            <a:r>
              <a:rPr lang="en-US" altLang="en-US" sz="1500" dirty="0">
                <a:latin typeface="Arial" panose="020B0604020202020204" pitchFamily="34" charset="0"/>
                <a:cs typeface="Arial" panose="020B0604020202020204" pitchFamily="34" charset="0"/>
              </a:rPr>
              <a:t> genres with the </a:t>
            </a:r>
            <a:r>
              <a:rPr lang="en-US" altLang="en-US" sz="1500" b="1" dirty="0">
                <a:solidFill>
                  <a:srgbClr val="FF0000"/>
                </a:solidFill>
                <a:latin typeface="Arial" panose="020B0604020202020204" pitchFamily="34" charset="0"/>
                <a:cs typeface="Arial" panose="020B0604020202020204" pitchFamily="34" charset="0"/>
              </a:rPr>
              <a:t>highest average IMDb ratings</a:t>
            </a:r>
            <a:r>
              <a:rPr lang="en-US" altLang="en-US" sz="1500" dirty="0">
                <a:latin typeface="Arial" panose="020B0604020202020204" pitchFamily="34" charset="0"/>
                <a:cs typeface="Arial" panose="020B0604020202020204" pitchFamily="34" charset="0"/>
              </a:rPr>
              <a:t>.</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This shows that audience appreciation is often higher for </a:t>
            </a:r>
            <a:r>
              <a:rPr lang="en-US" altLang="en-US" sz="1500" b="1" dirty="0">
                <a:solidFill>
                  <a:srgbClr val="FF0000"/>
                </a:solidFill>
                <a:latin typeface="Arial" panose="020B0604020202020204" pitchFamily="34" charset="0"/>
                <a:cs typeface="Arial" panose="020B0604020202020204" pitchFamily="34" charset="0"/>
              </a:rPr>
              <a:t>story-driven and emotional genres</a:t>
            </a:r>
            <a:r>
              <a:rPr lang="en-US" altLang="en-US" sz="1500" dirty="0">
                <a:latin typeface="Arial" panose="020B0604020202020204" pitchFamily="34" charset="0"/>
                <a:cs typeface="Arial" panose="020B0604020202020204" pitchFamily="34" charset="0"/>
              </a:rPr>
              <a:t>.</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The chart helps in understanding </a:t>
            </a:r>
            <a:r>
              <a:rPr lang="en-US" altLang="en-US" sz="1500" b="1" dirty="0">
                <a:solidFill>
                  <a:srgbClr val="FF0000"/>
                </a:solidFill>
                <a:latin typeface="Arial" panose="020B0604020202020204" pitchFamily="34" charset="0"/>
                <a:cs typeface="Arial" panose="020B0604020202020204" pitchFamily="34" charset="0"/>
              </a:rPr>
              <a:t>viewer preferences and quality perception </a:t>
            </a:r>
            <a:r>
              <a:rPr lang="en-US" altLang="en-US" sz="1500" dirty="0">
                <a:latin typeface="Arial" panose="020B0604020202020204" pitchFamily="34" charset="0"/>
                <a:cs typeface="Arial" panose="020B0604020202020204" pitchFamily="34" charset="0"/>
              </a:rPr>
              <a:t>across genres.</a:t>
            </a:r>
          </a:p>
        </p:txBody>
      </p:sp>
      <p:pic>
        <p:nvPicPr>
          <p:cNvPr id="8" name="Picture 7">
            <a:extLst>
              <a:ext uri="{FF2B5EF4-FFF2-40B4-BE49-F238E27FC236}">
                <a16:creationId xmlns:a16="http://schemas.microsoft.com/office/drawing/2014/main" id="{D9153C0B-760C-CBA4-5DB6-DA5C8D107C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566" y="1065553"/>
            <a:ext cx="2572109" cy="2418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a:extLst>
              <a:ext uri="{FF2B5EF4-FFF2-40B4-BE49-F238E27FC236}">
                <a16:creationId xmlns:a16="http://schemas.microsoft.com/office/drawing/2014/main" id="{1BD4B196-3E60-4870-DB1B-5F7085D941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8566" y="3822782"/>
            <a:ext cx="2572110" cy="2418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79691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69B31554-835D-07AB-C82F-0CB3EEF1E6A5}"/>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A05EB8A0-64A7-518B-1765-186A0482E377}"/>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3" name="TextBox 2">
            <a:extLst>
              <a:ext uri="{FF2B5EF4-FFF2-40B4-BE49-F238E27FC236}">
                <a16:creationId xmlns:a16="http://schemas.microsoft.com/office/drawing/2014/main" id="{8DDFBB20-D6A7-4CE3-E14E-73A8ACF67402}"/>
              </a:ext>
            </a:extLst>
          </p:cNvPr>
          <p:cNvSpPr txBox="1"/>
          <p:nvPr/>
        </p:nvSpPr>
        <p:spPr>
          <a:xfrm>
            <a:off x="908566" y="499329"/>
            <a:ext cx="2670431" cy="456472"/>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r>
              <a:rPr lang="en-IN" dirty="0"/>
              <a:t>🎬 </a:t>
            </a:r>
            <a:r>
              <a:rPr lang="en-IN" dirty="0">
                <a:solidFill>
                  <a:srgbClr val="0070C0"/>
                </a:solidFill>
              </a:rPr>
              <a:t>KEY VISUALS:</a:t>
            </a:r>
            <a:r>
              <a:rPr lang="en-IN" dirty="0"/>
              <a:t> </a:t>
            </a:r>
          </a:p>
        </p:txBody>
      </p:sp>
      <p:sp>
        <p:nvSpPr>
          <p:cNvPr id="4" name="Rectangle 1">
            <a:extLst>
              <a:ext uri="{FF2B5EF4-FFF2-40B4-BE49-F238E27FC236}">
                <a16:creationId xmlns:a16="http://schemas.microsoft.com/office/drawing/2014/main" id="{5EF72B47-F632-60D1-EE36-D9D2E0022EAE}"/>
              </a:ext>
            </a:extLst>
          </p:cNvPr>
          <p:cNvSpPr>
            <a:spLocks noChangeArrowheads="1"/>
          </p:cNvSpPr>
          <p:nvPr/>
        </p:nvSpPr>
        <p:spPr bwMode="auto">
          <a:xfrm>
            <a:off x="3382003" y="4193612"/>
            <a:ext cx="8692010" cy="1405706"/>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Displays the </a:t>
            </a:r>
            <a:r>
              <a:rPr lang="en-US" altLang="en-US" sz="1500" b="1" dirty="0">
                <a:solidFill>
                  <a:srgbClr val="FF0000"/>
                </a:solidFill>
                <a:latin typeface="Arial" panose="020B0604020202020204" pitchFamily="34" charset="0"/>
                <a:cs typeface="Arial" panose="020B0604020202020204" pitchFamily="34" charset="0"/>
              </a:rPr>
              <a:t>average movie length </a:t>
            </a:r>
            <a:r>
              <a:rPr lang="en-US" altLang="en-US" sz="1500" dirty="0">
                <a:latin typeface="Arial" panose="020B0604020202020204" pitchFamily="34" charset="0"/>
                <a:cs typeface="Arial" panose="020B0604020202020204" pitchFamily="34" charset="0"/>
              </a:rPr>
              <a:t>trend from 2006 to 2016.</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Runtime slightly fluctuates over the years, staying mostly between </a:t>
            </a:r>
            <a:r>
              <a:rPr lang="en-US" altLang="en-US" sz="1500" b="1" dirty="0">
                <a:solidFill>
                  <a:srgbClr val="FF0000"/>
                </a:solidFill>
                <a:latin typeface="Arial" panose="020B0604020202020204" pitchFamily="34" charset="0"/>
                <a:cs typeface="Arial" panose="020B0604020202020204" pitchFamily="34" charset="0"/>
              </a:rPr>
              <a:t>110–120 minutes</a:t>
            </a:r>
            <a:r>
              <a:rPr lang="en-US" altLang="en-US" sz="1500" dirty="0">
                <a:latin typeface="Arial" panose="020B0604020202020204" pitchFamily="34" charset="0"/>
                <a:cs typeface="Arial" panose="020B0604020202020204" pitchFamily="34" charset="0"/>
              </a:rPr>
              <a:t>.</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Suggests that </a:t>
            </a:r>
            <a:r>
              <a:rPr lang="en-US" altLang="en-US" sz="1500" b="1" dirty="0">
                <a:solidFill>
                  <a:srgbClr val="FF0000"/>
                </a:solidFill>
                <a:latin typeface="Arial" panose="020B0604020202020204" pitchFamily="34" charset="0"/>
                <a:cs typeface="Arial" panose="020B0604020202020204" pitchFamily="34" charset="0"/>
              </a:rPr>
              <a:t>movie duration has remained consistent</a:t>
            </a:r>
            <a:r>
              <a:rPr lang="en-US" altLang="en-US" sz="1500" dirty="0">
                <a:latin typeface="Arial" panose="020B0604020202020204" pitchFamily="34" charset="0"/>
                <a:cs typeface="Arial" panose="020B0604020202020204" pitchFamily="34" charset="0"/>
              </a:rPr>
              <a:t>, aligning with audience comfort levels.</a:t>
            </a:r>
          </a:p>
        </p:txBody>
      </p:sp>
      <p:sp>
        <p:nvSpPr>
          <p:cNvPr id="5" name="Rectangle 2">
            <a:extLst>
              <a:ext uri="{FF2B5EF4-FFF2-40B4-BE49-F238E27FC236}">
                <a16:creationId xmlns:a16="http://schemas.microsoft.com/office/drawing/2014/main" id="{1384D9D0-898E-5CD0-97BF-EBD1C0841366}"/>
              </a:ext>
            </a:extLst>
          </p:cNvPr>
          <p:cNvSpPr>
            <a:spLocks noChangeArrowheads="1"/>
          </p:cNvSpPr>
          <p:nvPr/>
        </p:nvSpPr>
        <p:spPr bwMode="auto">
          <a:xfrm>
            <a:off x="3097162" y="973771"/>
            <a:ext cx="7029232" cy="186737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The chart shows the </a:t>
            </a:r>
            <a:r>
              <a:rPr lang="en-US" altLang="en-US" sz="1500" b="1" dirty="0">
                <a:solidFill>
                  <a:srgbClr val="FF0000"/>
                </a:solidFill>
                <a:latin typeface="Arial" panose="020B0604020202020204" pitchFamily="34" charset="0"/>
                <a:cs typeface="Arial" panose="020B0604020202020204" pitchFamily="34" charset="0"/>
              </a:rPr>
              <a:t>top 10 highest-grossing movies </a:t>
            </a:r>
            <a:r>
              <a:rPr lang="en-US" altLang="en-US" sz="1500" dirty="0">
                <a:latin typeface="Arial" panose="020B0604020202020204" pitchFamily="34" charset="0"/>
                <a:cs typeface="Arial" panose="020B0604020202020204" pitchFamily="34" charset="0"/>
              </a:rPr>
              <a:t>by total revenue.</a:t>
            </a:r>
          </a:p>
          <a:p>
            <a:pPr marL="285750" indent="-285750">
              <a:lnSpc>
                <a:spcPct val="200000"/>
              </a:lnSpc>
              <a:buFont typeface="Arial" panose="020B0604020202020204" pitchFamily="34" charset="0"/>
              <a:buChar char="•"/>
            </a:pPr>
            <a:r>
              <a:rPr lang="en-US" altLang="en-US" sz="1500" b="1" dirty="0">
                <a:latin typeface="Arial" panose="020B0604020202020204" pitchFamily="34" charset="0"/>
                <a:cs typeface="Arial" panose="020B0604020202020204" pitchFamily="34" charset="0"/>
              </a:rPr>
              <a:t> </a:t>
            </a:r>
            <a:r>
              <a:rPr lang="en-US" altLang="en-US" sz="1500" b="1" dirty="0">
                <a:solidFill>
                  <a:srgbClr val="FF0000"/>
                </a:solidFill>
                <a:latin typeface="Arial" panose="020B0604020202020204" pitchFamily="34" charset="0"/>
                <a:cs typeface="Arial" panose="020B0604020202020204" pitchFamily="34" charset="0"/>
              </a:rPr>
              <a:t>Star Wars, Avatar,</a:t>
            </a:r>
            <a:r>
              <a:rPr lang="en-US" altLang="en-US" sz="1500" dirty="0">
                <a:latin typeface="Arial" panose="020B0604020202020204" pitchFamily="34" charset="0"/>
                <a:cs typeface="Arial" panose="020B0604020202020204" pitchFamily="34" charset="0"/>
              </a:rPr>
              <a:t> and </a:t>
            </a:r>
            <a:r>
              <a:rPr lang="en-US" altLang="en-US" sz="1500" b="1" dirty="0">
                <a:solidFill>
                  <a:srgbClr val="FF0000"/>
                </a:solidFill>
                <a:latin typeface="Arial" panose="020B0604020202020204" pitchFamily="34" charset="0"/>
                <a:cs typeface="Arial" panose="020B0604020202020204" pitchFamily="34" charset="0"/>
              </a:rPr>
              <a:t>Jurassic World </a:t>
            </a:r>
            <a:r>
              <a:rPr lang="en-US" altLang="en-US" sz="1500" dirty="0">
                <a:latin typeface="Arial" panose="020B0604020202020204" pitchFamily="34" charset="0"/>
                <a:cs typeface="Arial" panose="020B0604020202020204" pitchFamily="34" charset="0"/>
              </a:rPr>
              <a:t>lead the list with massive earnings.</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These movies together contribute to a large share of total box office revenue.</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Highlights how a few blockbuster films drive major industry profits.</a:t>
            </a:r>
          </a:p>
        </p:txBody>
      </p:sp>
      <p:pic>
        <p:nvPicPr>
          <p:cNvPr id="10" name="Picture 9">
            <a:extLst>
              <a:ext uri="{FF2B5EF4-FFF2-40B4-BE49-F238E27FC236}">
                <a16:creationId xmlns:a16="http://schemas.microsoft.com/office/drawing/2014/main" id="{1AA06420-1556-5764-02C8-BF771AF6E6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046" y="3826565"/>
            <a:ext cx="2824420" cy="27133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055E80F5-69F1-69FA-9F7D-92EADBB802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1572" y="955801"/>
            <a:ext cx="2385590" cy="26013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71717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34FE40C5-CDB3-C2E1-F532-9E99665D1146}"/>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E8D81AC2-5FC4-CFB2-AC36-E49B5276F910}"/>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7" name="TextBox 6">
            <a:extLst>
              <a:ext uri="{FF2B5EF4-FFF2-40B4-BE49-F238E27FC236}">
                <a16:creationId xmlns:a16="http://schemas.microsoft.com/office/drawing/2014/main" id="{8312DB05-7D82-37AE-43CC-2AFAF6D78914}"/>
              </a:ext>
            </a:extLst>
          </p:cNvPr>
          <p:cNvSpPr txBox="1"/>
          <p:nvPr/>
        </p:nvSpPr>
        <p:spPr>
          <a:xfrm>
            <a:off x="908566" y="499329"/>
            <a:ext cx="2670431" cy="456472"/>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r>
              <a:rPr lang="en-IN" dirty="0"/>
              <a:t>🎬 </a:t>
            </a:r>
            <a:r>
              <a:rPr lang="en-IN" dirty="0">
                <a:solidFill>
                  <a:srgbClr val="0070C0"/>
                </a:solidFill>
              </a:rPr>
              <a:t>KEY VISUALS:</a:t>
            </a:r>
            <a:r>
              <a:rPr lang="en-IN" dirty="0"/>
              <a:t> </a:t>
            </a:r>
          </a:p>
        </p:txBody>
      </p:sp>
      <p:sp>
        <p:nvSpPr>
          <p:cNvPr id="8" name="Rectangle 1">
            <a:extLst>
              <a:ext uri="{FF2B5EF4-FFF2-40B4-BE49-F238E27FC236}">
                <a16:creationId xmlns:a16="http://schemas.microsoft.com/office/drawing/2014/main" id="{871C32FA-40C5-F2C1-13C8-1EAECCFC686F}"/>
              </a:ext>
            </a:extLst>
          </p:cNvPr>
          <p:cNvSpPr>
            <a:spLocks noChangeArrowheads="1"/>
          </p:cNvSpPr>
          <p:nvPr/>
        </p:nvSpPr>
        <p:spPr bwMode="auto">
          <a:xfrm>
            <a:off x="4363299" y="4082998"/>
            <a:ext cx="7828701" cy="186737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The chart shows a clear </a:t>
            </a:r>
            <a:r>
              <a:rPr lang="en-US" altLang="en-US" sz="1500" b="1" dirty="0">
                <a:solidFill>
                  <a:srgbClr val="FF0000"/>
                </a:solidFill>
                <a:latin typeface="Arial" panose="020B0604020202020204" pitchFamily="34" charset="0"/>
                <a:cs typeface="Arial" panose="020B0604020202020204" pitchFamily="34" charset="0"/>
              </a:rPr>
              <a:t>positive relationship between IMDb ratings and revenue</a:t>
            </a:r>
            <a:r>
              <a:rPr lang="en-US" altLang="en-US" sz="1500" dirty="0">
                <a:latin typeface="Arial" panose="020B0604020202020204" pitchFamily="34" charset="0"/>
                <a:cs typeface="Arial" panose="020B0604020202020204" pitchFamily="34" charset="0"/>
              </a:rPr>
              <a:t>.</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Movies rated between </a:t>
            </a:r>
            <a:r>
              <a:rPr lang="en-US" altLang="en-US" sz="1500" b="1" dirty="0">
                <a:solidFill>
                  <a:srgbClr val="FF0000"/>
                </a:solidFill>
                <a:latin typeface="Arial" panose="020B0604020202020204" pitchFamily="34" charset="0"/>
                <a:cs typeface="Arial" panose="020B0604020202020204" pitchFamily="34" charset="0"/>
              </a:rPr>
              <a:t>7 and 8 </a:t>
            </a:r>
            <a:r>
              <a:rPr lang="en-US" altLang="en-US" sz="1500" dirty="0">
                <a:latin typeface="Arial" panose="020B0604020202020204" pitchFamily="34" charset="0"/>
                <a:cs typeface="Arial" panose="020B0604020202020204" pitchFamily="34" charset="0"/>
              </a:rPr>
              <a:t>earned the most revenue, showing audience trust in quality films.</a:t>
            </a:r>
          </a:p>
          <a:p>
            <a:pPr marL="285750" indent="-285750">
              <a:lnSpc>
                <a:spcPct val="200000"/>
              </a:lnSpc>
              <a:buFont typeface="Arial" panose="020B0604020202020204" pitchFamily="34" charset="0"/>
              <a:buChar char="•"/>
            </a:pPr>
            <a:r>
              <a:rPr lang="en-US" altLang="en-US" sz="1500" dirty="0">
                <a:latin typeface="Arial" panose="020B0604020202020204" pitchFamily="34" charset="0"/>
                <a:cs typeface="Arial" panose="020B0604020202020204" pitchFamily="34" charset="0"/>
              </a:rPr>
              <a:t>Indicates that </a:t>
            </a:r>
            <a:r>
              <a:rPr lang="en-US" altLang="en-US" sz="1500" b="1" dirty="0">
                <a:solidFill>
                  <a:srgbClr val="FF0000"/>
                </a:solidFill>
                <a:latin typeface="Arial" panose="020B0604020202020204" pitchFamily="34" charset="0"/>
                <a:cs typeface="Arial" panose="020B0604020202020204" pitchFamily="34" charset="0"/>
              </a:rPr>
              <a:t>higher-rated movies generally perform better financially</a:t>
            </a:r>
            <a:r>
              <a:rPr lang="en-US" altLang="en-US" sz="1500" dirty="0">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05A1981B-8F32-BB07-4C34-BA3B4C6CAE56}"/>
              </a:ext>
            </a:extLst>
          </p:cNvPr>
          <p:cNvSpPr txBox="1"/>
          <p:nvPr/>
        </p:nvSpPr>
        <p:spPr>
          <a:xfrm>
            <a:off x="4343634" y="1280024"/>
            <a:ext cx="8005684" cy="1867371"/>
          </a:xfrm>
          <a:prstGeom prst="rect">
            <a:avLst/>
          </a:prstGeom>
          <a:noFill/>
        </p:spPr>
        <p:txBody>
          <a:bodyPr wrap="square" rtlCol="0">
            <a:spAutoFit/>
          </a:bodyPr>
          <a:lstStyle>
            <a:defPPr>
              <a:defRPr lang="en-US"/>
            </a:defPPr>
            <a:lvl1pPr marL="285750" indent="-285750">
              <a:lnSpc>
                <a:spcPct val="200000"/>
              </a:lnSpc>
              <a:buFont typeface="Arial" panose="020B0604020202020204" pitchFamily="34" charset="0"/>
              <a:buChar char="•"/>
              <a:defRPr sz="1500">
                <a:latin typeface="Arial" panose="020B0604020202020204" pitchFamily="34" charset="0"/>
                <a:cs typeface="Arial" panose="020B0604020202020204" pitchFamily="34" charset="0"/>
              </a:defRPr>
            </a:lvl1pPr>
          </a:lstStyle>
          <a:p>
            <a:r>
              <a:rPr lang="en-US" dirty="0"/>
              <a:t>Combines three key factors — </a:t>
            </a:r>
            <a:r>
              <a:rPr lang="en-US" b="1" dirty="0">
                <a:solidFill>
                  <a:srgbClr val="FF0000"/>
                </a:solidFill>
              </a:rPr>
              <a:t>revenue, average runtime, and rating </a:t>
            </a:r>
            <a:r>
              <a:rPr lang="en-US" dirty="0"/>
              <a:t>— by year.</a:t>
            </a:r>
          </a:p>
          <a:p>
            <a:r>
              <a:rPr lang="en-US" dirty="0"/>
              <a:t>Reveals that </a:t>
            </a:r>
            <a:r>
              <a:rPr lang="en-US" b="1" dirty="0">
                <a:solidFill>
                  <a:srgbClr val="FF0000"/>
                </a:solidFill>
              </a:rPr>
              <a:t>revenue gradually increased</a:t>
            </a:r>
            <a:r>
              <a:rPr lang="en-US" dirty="0"/>
              <a:t> after 2010 while ratings remained fairly steady.</a:t>
            </a:r>
          </a:p>
          <a:p>
            <a:r>
              <a:rPr lang="en-US" dirty="0"/>
              <a:t>Helps identify </a:t>
            </a:r>
            <a:r>
              <a:rPr lang="en-US" b="1" dirty="0">
                <a:solidFill>
                  <a:srgbClr val="FF0000"/>
                </a:solidFill>
              </a:rPr>
              <a:t>industry growth and consistency </a:t>
            </a:r>
            <a:r>
              <a:rPr lang="en-US" dirty="0"/>
              <a:t>in movie performance over the years.</a:t>
            </a:r>
          </a:p>
        </p:txBody>
      </p:sp>
      <p:pic>
        <p:nvPicPr>
          <p:cNvPr id="12" name="Picture 11">
            <a:extLst>
              <a:ext uri="{FF2B5EF4-FFF2-40B4-BE49-F238E27FC236}">
                <a16:creationId xmlns:a16="http://schemas.microsoft.com/office/drawing/2014/main" id="{BCE5D083-D621-0EE8-E302-62113A0933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190" y="1139221"/>
            <a:ext cx="3699820" cy="2379232"/>
          </a:xfrm>
          <a:prstGeom prst="rect">
            <a:avLst/>
          </a:prstGeom>
        </p:spPr>
      </p:pic>
      <p:pic>
        <p:nvPicPr>
          <p:cNvPr id="14" name="Picture 13">
            <a:extLst>
              <a:ext uri="{FF2B5EF4-FFF2-40B4-BE49-F238E27FC236}">
                <a16:creationId xmlns:a16="http://schemas.microsoft.com/office/drawing/2014/main" id="{88959629-9AE0-0B4E-5EE7-ACA6D8E4AF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105" y="4082998"/>
            <a:ext cx="3607906" cy="2275674"/>
          </a:xfrm>
          <a:prstGeom prst="rect">
            <a:avLst/>
          </a:prstGeom>
        </p:spPr>
      </p:pic>
    </p:spTree>
    <p:extLst>
      <p:ext uri="{BB962C8B-B14F-4D97-AF65-F5344CB8AC3E}">
        <p14:creationId xmlns:p14="http://schemas.microsoft.com/office/powerpoint/2010/main" val="1170308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8DADBF2B-904A-481F-8F8E-6358BB5DEBA1}"/>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819A0609-2E3B-8244-91A0-5C75694922F8}"/>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3" name="TextBox 2">
            <a:extLst>
              <a:ext uri="{FF2B5EF4-FFF2-40B4-BE49-F238E27FC236}">
                <a16:creationId xmlns:a16="http://schemas.microsoft.com/office/drawing/2014/main" id="{5FE6F376-C6D7-D2AE-D87A-D2815B0C2291}"/>
              </a:ext>
            </a:extLst>
          </p:cNvPr>
          <p:cNvSpPr txBox="1"/>
          <p:nvPr/>
        </p:nvSpPr>
        <p:spPr>
          <a:xfrm>
            <a:off x="934064" y="322374"/>
            <a:ext cx="2670431" cy="456472"/>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r>
              <a:rPr lang="en-IN" dirty="0">
                <a:solidFill>
                  <a:srgbClr val="0070C0"/>
                </a:solidFill>
              </a:rPr>
              <a:t>DASHBOARD: </a:t>
            </a:r>
          </a:p>
        </p:txBody>
      </p:sp>
      <p:pic>
        <p:nvPicPr>
          <p:cNvPr id="6" name="Picture 5">
            <a:extLst>
              <a:ext uri="{FF2B5EF4-FFF2-40B4-BE49-F238E27FC236}">
                <a16:creationId xmlns:a16="http://schemas.microsoft.com/office/drawing/2014/main" id="{7CEEEBD1-7FFB-8A9A-DA16-28C62D4BA3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226" y="778846"/>
            <a:ext cx="10913165" cy="5238497"/>
          </a:xfrm>
          <a:prstGeom prst="rect">
            <a:avLst/>
          </a:prstGeom>
        </p:spPr>
      </p:pic>
    </p:spTree>
    <p:extLst>
      <p:ext uri="{BB962C8B-B14F-4D97-AF65-F5344CB8AC3E}">
        <p14:creationId xmlns:p14="http://schemas.microsoft.com/office/powerpoint/2010/main" val="178898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0FE40EBA-A148-BCEF-DC54-14B1D5D0A628}"/>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8C308BAD-9581-4A46-6A1F-71A96F3A8F5E}"/>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5" name="TextBox 4">
            <a:extLst>
              <a:ext uri="{FF2B5EF4-FFF2-40B4-BE49-F238E27FC236}">
                <a16:creationId xmlns:a16="http://schemas.microsoft.com/office/drawing/2014/main" id="{22AFD06E-0919-0956-F7AE-653CD7D9F149}"/>
              </a:ext>
            </a:extLst>
          </p:cNvPr>
          <p:cNvSpPr txBox="1"/>
          <p:nvPr/>
        </p:nvSpPr>
        <p:spPr>
          <a:xfrm>
            <a:off x="904568" y="656671"/>
            <a:ext cx="3755923" cy="456535"/>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r>
              <a:rPr lang="en-IN" dirty="0">
                <a:solidFill>
                  <a:srgbClr val="0070C0"/>
                </a:solidFill>
              </a:rPr>
              <a:t>LINK TO THE DASHBOARD: </a:t>
            </a:r>
          </a:p>
        </p:txBody>
      </p:sp>
    </p:spTree>
    <p:extLst>
      <p:ext uri="{BB962C8B-B14F-4D97-AF65-F5344CB8AC3E}">
        <p14:creationId xmlns:p14="http://schemas.microsoft.com/office/powerpoint/2010/main" val="1480542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CE06CDFE-E976-8BA0-1D76-4EFE9754E700}"/>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0609021A-7591-B2F8-E446-12080158AEBB}"/>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4" name="TextBox 3">
            <a:extLst>
              <a:ext uri="{FF2B5EF4-FFF2-40B4-BE49-F238E27FC236}">
                <a16:creationId xmlns:a16="http://schemas.microsoft.com/office/drawing/2014/main" id="{A696BBD7-61DA-D693-467C-296D2FF68021}"/>
              </a:ext>
            </a:extLst>
          </p:cNvPr>
          <p:cNvSpPr txBox="1"/>
          <p:nvPr/>
        </p:nvSpPr>
        <p:spPr>
          <a:xfrm>
            <a:off x="481780" y="523763"/>
            <a:ext cx="11867536" cy="4438395"/>
          </a:xfrm>
          <a:prstGeom prst="rect">
            <a:avLst/>
          </a:prstGeom>
          <a:noFill/>
        </p:spPr>
        <p:txBody>
          <a:bodyPr wrap="square">
            <a:spAutoFit/>
          </a:bodyPr>
          <a:lstStyle>
            <a:defPPr>
              <a:defRPr lang="en-US"/>
            </a:defPPr>
            <a:lvl1pPr>
              <a:lnSpc>
                <a:spcPct val="150000"/>
              </a:lnSpc>
              <a:defRPr b="1">
                <a:latin typeface="Arial" panose="020B0604020202020204" pitchFamily="34" charset="0"/>
                <a:cs typeface="Arial" panose="020B0604020202020204" pitchFamily="34" charset="0"/>
              </a:defRPr>
            </a:lvl1pPr>
          </a:lstStyle>
          <a:p>
            <a:pPr>
              <a:lnSpc>
                <a:spcPct val="200000"/>
              </a:lnSpc>
            </a:pPr>
            <a:r>
              <a:rPr lang="en-US" dirty="0"/>
              <a:t>🎯 </a:t>
            </a:r>
            <a:r>
              <a:rPr lang="en-US" dirty="0">
                <a:solidFill>
                  <a:srgbClr val="0070C0"/>
                </a:solidFill>
              </a:rPr>
              <a:t>Conclusion:</a:t>
            </a:r>
          </a:p>
          <a:p>
            <a:pPr marL="285750" indent="-285750">
              <a:lnSpc>
                <a:spcPct val="200000"/>
              </a:lnSpc>
              <a:buFont typeface="Arial" panose="020B0604020202020204" pitchFamily="34" charset="0"/>
              <a:buChar char="•"/>
            </a:pPr>
            <a:r>
              <a:rPr lang="en-US" dirty="0"/>
              <a:t>The analysis shows that </a:t>
            </a:r>
            <a:r>
              <a:rPr lang="en-US" dirty="0">
                <a:solidFill>
                  <a:srgbClr val="FF0000"/>
                </a:solidFill>
              </a:rPr>
              <a:t>Action, Animation, and Adventure </a:t>
            </a:r>
            <a:r>
              <a:rPr lang="en-US" dirty="0"/>
              <a:t>movies generate the highest revenues.</a:t>
            </a:r>
          </a:p>
          <a:p>
            <a:pPr marL="285750" indent="-285750">
              <a:lnSpc>
                <a:spcPct val="200000"/>
              </a:lnSpc>
              <a:buFont typeface="Arial" panose="020B0604020202020204" pitchFamily="34" charset="0"/>
              <a:buChar char="•"/>
            </a:pPr>
            <a:r>
              <a:rPr lang="en-US" dirty="0"/>
              <a:t>Movies with </a:t>
            </a:r>
            <a:r>
              <a:rPr lang="en-US" dirty="0">
                <a:solidFill>
                  <a:srgbClr val="FF0000"/>
                </a:solidFill>
              </a:rPr>
              <a:t>higher IMDb ratings (7–8) </a:t>
            </a:r>
            <a:r>
              <a:rPr lang="en-US" dirty="0"/>
              <a:t>generally earn more, proving the link between quality and success.</a:t>
            </a:r>
          </a:p>
          <a:p>
            <a:pPr marL="285750" indent="-285750">
              <a:lnSpc>
                <a:spcPct val="200000"/>
              </a:lnSpc>
              <a:buFont typeface="Arial" panose="020B0604020202020204" pitchFamily="34" charset="0"/>
              <a:buChar char="•"/>
            </a:pPr>
            <a:r>
              <a:rPr lang="en-US" dirty="0">
                <a:solidFill>
                  <a:srgbClr val="FF0000"/>
                </a:solidFill>
              </a:rPr>
              <a:t>Star Wars, Avatar, and Jurassic World </a:t>
            </a:r>
            <a:r>
              <a:rPr lang="en-US" dirty="0"/>
              <a:t>stand out as the top revenue-generating films.</a:t>
            </a:r>
          </a:p>
          <a:p>
            <a:pPr marL="285750" indent="-285750">
              <a:lnSpc>
                <a:spcPct val="200000"/>
              </a:lnSpc>
              <a:buFont typeface="Arial" panose="020B0604020202020204" pitchFamily="34" charset="0"/>
              <a:buChar char="•"/>
            </a:pPr>
            <a:r>
              <a:rPr lang="en-US" dirty="0"/>
              <a:t>The average movie </a:t>
            </a:r>
            <a:r>
              <a:rPr lang="en-US" dirty="0">
                <a:solidFill>
                  <a:srgbClr val="FF0000"/>
                </a:solidFill>
              </a:rPr>
              <a:t>runtime remains stable </a:t>
            </a:r>
            <a:r>
              <a:rPr lang="en-US" dirty="0"/>
              <a:t>over the years, showing consistent audience preferences.</a:t>
            </a:r>
          </a:p>
          <a:p>
            <a:pPr marL="285750" indent="-285750">
              <a:lnSpc>
                <a:spcPct val="200000"/>
              </a:lnSpc>
              <a:buFont typeface="Arial" panose="020B0604020202020204" pitchFamily="34" charset="0"/>
              <a:buChar char="•"/>
            </a:pPr>
            <a:r>
              <a:rPr lang="en-US" dirty="0"/>
              <a:t>Overall, the study helps understand </a:t>
            </a:r>
            <a:r>
              <a:rPr lang="en-US" dirty="0">
                <a:solidFill>
                  <a:srgbClr val="FF0000"/>
                </a:solidFill>
              </a:rPr>
              <a:t>what factors drive movie success </a:t>
            </a:r>
            <a:r>
              <a:rPr lang="en-US" dirty="0"/>
              <a:t>and can guide producers and investors in making smarter decisions for future films.</a:t>
            </a:r>
          </a:p>
        </p:txBody>
      </p:sp>
    </p:spTree>
    <p:extLst>
      <p:ext uri="{BB962C8B-B14F-4D97-AF65-F5344CB8AC3E}">
        <p14:creationId xmlns:p14="http://schemas.microsoft.com/office/powerpoint/2010/main" val="3820493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8000">
              <a:schemeClr val="accent2">
                <a:alpha val="59000"/>
                <a:lumMod val="96000"/>
              </a:schemeClr>
            </a:gs>
            <a:gs pos="100000">
              <a:schemeClr val="bg1"/>
            </a:gs>
          </a:gsLst>
          <a:lin ang="5400000" scaled="1"/>
        </a:gradFill>
        <a:effectLst/>
      </p:bgPr>
    </p:bg>
    <p:spTree>
      <p:nvGrpSpPr>
        <p:cNvPr id="1" name="">
          <a:extLst>
            <a:ext uri="{FF2B5EF4-FFF2-40B4-BE49-F238E27FC236}">
              <a16:creationId xmlns:a16="http://schemas.microsoft.com/office/drawing/2014/main" id="{B28D6613-E186-6EE7-15D2-1320ED70A50E}"/>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84A17D5F-39F3-F59A-276D-B0092396542F}"/>
              </a:ext>
            </a:extLst>
          </p:cNvPr>
          <p:cNvSpPr/>
          <p:nvPr/>
        </p:nvSpPr>
        <p:spPr>
          <a:xfrm>
            <a:off x="8457476" y="6017343"/>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
        <p:nvSpPr>
          <p:cNvPr id="3" name="TextBox 2">
            <a:extLst>
              <a:ext uri="{FF2B5EF4-FFF2-40B4-BE49-F238E27FC236}">
                <a16:creationId xmlns:a16="http://schemas.microsoft.com/office/drawing/2014/main" id="{13634F0A-10AF-ADAE-AD1E-0A68B980FB80}"/>
              </a:ext>
            </a:extLst>
          </p:cNvPr>
          <p:cNvSpPr txBox="1"/>
          <p:nvPr/>
        </p:nvSpPr>
        <p:spPr>
          <a:xfrm>
            <a:off x="3616539" y="2771972"/>
            <a:ext cx="4958922" cy="1015663"/>
          </a:xfrm>
          <a:prstGeom prst="rect">
            <a:avLst/>
          </a:prstGeom>
          <a:noFill/>
        </p:spPr>
        <p:txBody>
          <a:bodyPr wrap="none" rtlCol="0">
            <a:spAutoFit/>
          </a:bodyPr>
          <a:lstStyle/>
          <a:p>
            <a:r>
              <a:rPr lang="en-US" sz="6000" b="1" dirty="0">
                <a:solidFill>
                  <a:srgbClr val="0070C0"/>
                </a:solidFill>
                <a:latin typeface="Arial" panose="020B0604020202020204" pitchFamily="34" charset="0"/>
                <a:cs typeface="Arial" panose="020B0604020202020204" pitchFamily="34" charset="0"/>
              </a:rPr>
              <a:t>THANK YOU </a:t>
            </a:r>
            <a:endParaRPr lang="en-IN" sz="6000" b="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51225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236</TotalTime>
  <Words>742</Words>
  <Application>Microsoft Office PowerPoint</Application>
  <PresentationFormat>Widescreen</PresentationFormat>
  <Paragraphs>68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Calisto MT</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Nale</dc:creator>
  <cp:lastModifiedBy>Mohit Chaudhari</cp:lastModifiedBy>
  <cp:revision>2</cp:revision>
  <dcterms:created xsi:type="dcterms:W3CDTF">2025-11-07T09:03:01Z</dcterms:created>
  <dcterms:modified xsi:type="dcterms:W3CDTF">2026-02-28T17:56:53Z</dcterms:modified>
</cp:coreProperties>
</file>